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0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594360"/>
            <a:ext cx="1097280" cy="1097280"/>
          </a:xfrm>
          <a:prstGeom prst="ellipse">
            <a:avLst/>
          </a:prstGeom>
          <a:solidFill>
            <a:srgbClr val="EC5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1508760"/>
            <a:ext cx="502920" cy="502920"/>
          </a:xfrm>
          <a:prstGeom prst="ellipse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81160" y="1828800"/>
            <a:ext cx="685800" cy="685800"/>
          </a:xfrm>
          <a:prstGeom prst="ellipse">
            <a:avLst/>
          </a:prstGeom>
          <a:solidFill>
            <a:srgbClr val="49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B84D"/>
                </a:solidFill>
                <a:latin typeface="Aptos"/>
              </a:rPr>
              <a:t>FOOD 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37360"/>
            <a:ext cx="8961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"/>
              </a:rPr>
              <a:t>Empathy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78892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CE0E6"/>
                </a:solidFill>
                <a:latin typeface="Aptos"/>
              </a:rPr>
              <a:t>Understanding user needs, frustrations</a:t>
            </a:r>
            <a:br/>
            <a:r>
              <a:t>and expectations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4069080"/>
            <a:ext cx="2057400" cy="384048"/>
          </a:xfrm>
          <a:prstGeom prst="roundRect">
            <a:avLst/>
          </a:prstGeom>
          <a:solidFill>
            <a:srgbClr val="343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4123944"/>
            <a:ext cx="19110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USER EXPERIENCE • UI/UX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1663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Food Delivery App 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715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FB8"/>
                </a:solidFill>
                <a:latin typeface="Aptos"/>
              </a:rPr>
              <a:t>Prepared by Jagadeesh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B626C"/>
                </a:solidFill>
                <a:latin typeface="Aptos"/>
              </a:rPr>
              <a:t>FOOD DELIVERY • EMPATHY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7080" y="647395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B626C"/>
                </a:solidFill>
                <a:latin typeface="Aptos"/>
              </a:rPr>
              <a:t>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5B48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4747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2026"/>
                </a:solidFill>
                <a:latin typeface="Aptos"/>
              </a:rPr>
              <a:t>Empathy Map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32688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26C"/>
                </a:solidFill>
                <a:latin typeface="Aptos"/>
              </a:rPr>
              <a:t>A clear view of the user's food-ordering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64008" cy="1600200"/>
          </a:xfrm>
          <a:prstGeom prst="rect">
            <a:avLst/>
          </a:prstGeom>
          <a:solidFill>
            <a:srgbClr val="EC5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2026"/>
                </a:solidFill>
                <a:latin typeface="Aptos"/>
              </a:rPr>
              <a:t>USER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21992"/>
            <a:ext cx="30175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B626C"/>
                </a:solidFill>
                <a:latin typeface="Aptos"/>
              </a:rPr>
              <a:t>Who is the person?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0020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600200"/>
            <a:ext cx="64008" cy="1600200"/>
          </a:xfrm>
          <a:prstGeom prst="rect">
            <a:avLst/>
          </a:prstGeom>
          <a:solidFill>
            <a:srgbClr val="4A7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76479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2026"/>
                </a:solidFill>
                <a:latin typeface="Aptos"/>
              </a:rPr>
              <a:t>SAYS &amp; THINKS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221992"/>
            <a:ext cx="30175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B626C"/>
                </a:solidFill>
                <a:latin typeface="Aptos"/>
              </a:rPr>
              <a:t>What do they communicate and think?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60020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600200"/>
            <a:ext cx="64008" cy="1600200"/>
          </a:xfrm>
          <a:prstGeom prst="rect">
            <a:avLst/>
          </a:prstGeom>
          <a:solidFill>
            <a:srgbClr val="49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76479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2026"/>
                </a:solidFill>
                <a:latin typeface="Aptos"/>
              </a:rPr>
              <a:t>DOES &amp; FEELS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221992"/>
            <a:ext cx="30175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B626C"/>
                </a:solidFill>
                <a:latin typeface="Aptos"/>
              </a:rPr>
              <a:t>What actions and emotions appear?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1188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611880"/>
            <a:ext cx="64008" cy="1600200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77647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2026"/>
                </a:solidFill>
                <a:latin typeface="Aptos"/>
              </a:rPr>
              <a:t>NEEDS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233672"/>
            <a:ext cx="30175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B626C"/>
                </a:solidFill>
                <a:latin typeface="Aptos"/>
              </a:rPr>
              <a:t>What makes the experience useful?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61188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3611880"/>
            <a:ext cx="64008" cy="1600200"/>
          </a:xfrm>
          <a:prstGeom prst="rect">
            <a:avLst/>
          </a:prstGeom>
          <a:solidFill>
            <a:srgbClr val="EC5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77647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2026"/>
                </a:solidFill>
                <a:latin typeface="Aptos"/>
              </a:rPr>
              <a:t>FRUSTRATIONS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233672"/>
            <a:ext cx="30175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B626C"/>
                </a:solidFill>
                <a:latin typeface="Aptos"/>
              </a:rPr>
              <a:t>What problems create difficulty?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61188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3611880"/>
            <a:ext cx="64008" cy="1600200"/>
          </a:xfrm>
          <a:prstGeom prst="rect">
            <a:avLst/>
          </a:prstGeom>
          <a:solidFill>
            <a:srgbClr val="4A7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377647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2026"/>
                </a:solidFill>
                <a:latin typeface="Aptos"/>
              </a:rPr>
              <a:t>EXPECTATIONS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4233672"/>
            <a:ext cx="30175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B626C"/>
                </a:solidFill>
                <a:latin typeface="Aptos"/>
              </a:rPr>
              <a:t>What should a good app provide?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B626C"/>
                </a:solidFill>
                <a:latin typeface="Aptos"/>
              </a:rPr>
              <a:t>FOOD DELIVERY • EMPATHY MAP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27080" y="647395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B626C"/>
                </a:solidFill>
                <a:latin typeface="Aptos"/>
              </a:rPr>
              <a:t>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5B48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4747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2026"/>
                </a:solidFill>
                <a:latin typeface="Aptos"/>
              </a:rPr>
              <a:t>User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32688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26C"/>
                </a:solidFill>
                <a:latin typeface="Aptos"/>
              </a:rPr>
              <a:t>Who is the person using the food delivery app?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2461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64008" cy="3474720"/>
          </a:xfrm>
          <a:prstGeom prst="rect">
            <a:avLst/>
          </a:prstGeom>
          <a:solidFill>
            <a:srgbClr val="4A7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73351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026"/>
                </a:solidFill>
                <a:latin typeface="Aptos"/>
              </a:rPr>
              <a:t>COLLEGE STUDENT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30552"/>
            <a:ext cx="2834639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B626C"/>
                </a:solidFill>
                <a:latin typeface="Aptos"/>
              </a:rPr>
              <a:t>Regular food</a:t>
            </a:r>
            <a:br/>
            <a:r>
              <a:t>delivery user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508760"/>
            <a:ext cx="32461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508760"/>
            <a:ext cx="64008" cy="3474720"/>
          </a:xfrm>
          <a:prstGeom prst="rect">
            <a:avLst/>
          </a:prstGeom>
          <a:solidFill>
            <a:srgbClr val="EC5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673351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026"/>
                </a:solidFill>
                <a:latin typeface="Aptos"/>
              </a:rPr>
              <a:t>QUICK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30552"/>
            <a:ext cx="2834639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B626C"/>
                </a:solidFill>
                <a:latin typeface="Aptos"/>
              </a:rPr>
              <a:t>Wants food without</a:t>
            </a:r>
            <a:br/>
            <a:r>
              <a:t>waiting too long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508760"/>
            <a:ext cx="32461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508760"/>
            <a:ext cx="64008" cy="3474720"/>
          </a:xfrm>
          <a:prstGeom prst="rect">
            <a:avLst/>
          </a:prstGeom>
          <a:solidFill>
            <a:srgbClr val="49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673351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026"/>
                </a:solidFill>
                <a:latin typeface="Aptos"/>
              </a:rPr>
              <a:t>AFFORDABLE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130552"/>
            <a:ext cx="2834639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B626C"/>
                </a:solidFill>
                <a:latin typeface="Aptos"/>
              </a:rPr>
              <a:t>Looks for reasonable</a:t>
            </a:r>
            <a:br/>
            <a:r>
              <a:t>prices and offers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94760" y="5394960"/>
            <a:ext cx="4480560" cy="384048"/>
          </a:xfrm>
          <a:prstGeom prst="roundRect">
            <a:avLst/>
          </a:prstGeom>
          <a:solidFill>
            <a:srgbClr val="EB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67912" y="5449824"/>
            <a:ext cx="43342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C2026"/>
                </a:solidFill>
                <a:latin typeface="Aptos"/>
              </a:rPr>
              <a:t>SIMPLE &amp; CONVENIENT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B626C"/>
                </a:solidFill>
                <a:latin typeface="Aptos"/>
              </a:rPr>
              <a:t>FOOD DELIVERY • EMPATHY 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27080" y="647395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B626C"/>
                </a:solidFill>
                <a:latin typeface="Aptos"/>
              </a:rPr>
              <a:t>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5B48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4747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2026"/>
                </a:solidFill>
                <a:latin typeface="Aptos"/>
              </a:rPr>
              <a:t>What the User Wants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32688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26C"/>
                </a:solidFill>
                <a:latin typeface="Aptos"/>
              </a:rPr>
              <a:t>Core priorities behind regular food delivery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C5B48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49047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C2026"/>
                </a:solidFill>
                <a:latin typeface="Aptos"/>
              </a:rPr>
              <a:t>Uses a food delivery app regularly.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2167128"/>
            <a:ext cx="9326880" cy="2286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B84D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99923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C2026"/>
                </a:solidFill>
                <a:latin typeface="Aptos"/>
              </a:rPr>
              <a:t>Wants quick and affordable food.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3675887"/>
            <a:ext cx="9326880" cy="2286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26279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99E75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50799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C2026"/>
                </a:solidFill>
                <a:latin typeface="Aptos"/>
              </a:rPr>
              <a:t>Needs a simple and convenient ordering experience.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5184647"/>
            <a:ext cx="9326880" cy="2286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B626C"/>
                </a:solidFill>
                <a:latin typeface="Aptos"/>
              </a:rPr>
              <a:t>FOOD DELIVERY • EMPATHY 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27080" y="647395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B626C"/>
                </a:solidFill>
                <a:latin typeface="Aptos"/>
              </a:rPr>
              <a:t>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5B48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4747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2026"/>
                </a:solidFill>
                <a:latin typeface="Aptos"/>
              </a:rPr>
              <a:t>Says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32688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26C"/>
                </a:solidFill>
                <a:latin typeface="Aptos"/>
              </a:rPr>
              <a:t>What the user communicates during the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64008" cy="1600200"/>
          </a:xfrm>
          <a:prstGeom prst="rect">
            <a:avLst/>
          </a:prstGeom>
          <a:solidFill>
            <a:srgbClr val="EC5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1907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2026"/>
                </a:solidFill>
                <a:latin typeface="Aptos"/>
              </a:rPr>
              <a:t>USER SAYS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76272"/>
            <a:ext cx="466344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5B626C"/>
                </a:solidFill>
                <a:latin typeface="Aptos"/>
              </a:rPr>
              <a:t>“I want my food quickly.”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64008" cy="1600200"/>
          </a:xfrm>
          <a:prstGeom prst="rect">
            <a:avLst/>
          </a:prstGeom>
          <a:solidFill>
            <a:srgbClr val="4A7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71907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2026"/>
                </a:solidFill>
                <a:latin typeface="Aptos"/>
              </a:rPr>
              <a:t>USER SAYS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76272"/>
            <a:ext cx="466344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5B626C"/>
                </a:solidFill>
                <a:latin typeface="Aptos"/>
              </a:rPr>
              <a:t>“Is there any discount?”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20439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520439"/>
            <a:ext cx="64008" cy="1600200"/>
          </a:xfrm>
          <a:prstGeom prst="rect">
            <a:avLst/>
          </a:prstGeom>
          <a:solidFill>
            <a:srgbClr val="EC5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685031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2026"/>
                </a:solidFill>
                <a:latin typeface="Aptos"/>
              </a:rPr>
              <a:t>USER SAYS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142231"/>
            <a:ext cx="466344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5B626C"/>
                </a:solidFill>
                <a:latin typeface="Aptos"/>
              </a:rPr>
              <a:t>“I want tasty food.”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520439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520439"/>
            <a:ext cx="64008" cy="1600200"/>
          </a:xfrm>
          <a:prstGeom prst="rect">
            <a:avLst/>
          </a:prstGeom>
          <a:solidFill>
            <a:srgbClr val="4A7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685031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2026"/>
                </a:solidFill>
                <a:latin typeface="Aptos"/>
              </a:rPr>
              <a:t>USER SAYS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142231"/>
            <a:ext cx="466344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5B626C"/>
                </a:solidFill>
                <a:latin typeface="Aptos"/>
              </a:rPr>
              <a:t>“Where is my order?”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B626C"/>
                </a:solidFill>
                <a:latin typeface="Aptos"/>
              </a:rPr>
              <a:t>FOOD DELIVERY • EMPATHY 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27080" y="647395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B626C"/>
                </a:solidFill>
                <a:latin typeface="Aptos"/>
              </a:rPr>
              <a:t>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5B48"/>
                </a:solidFill>
                <a:latin typeface="Apto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4747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2026"/>
                </a:solidFill>
                <a:latin typeface="Aptos"/>
              </a:rPr>
              <a:t>Thinks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32688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26C"/>
                </a:solidFill>
                <a:latin typeface="Aptos"/>
              </a:rPr>
              <a:t>Questions and concerns that stay on the user's mind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554480"/>
            <a:ext cx="658368" cy="658368"/>
          </a:xfrm>
          <a:prstGeom prst="ellipse">
            <a:avLst/>
          </a:prstGeom>
          <a:solidFill>
            <a:srgbClr val="EB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63677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A7BBD"/>
                </a:solidFill>
                <a:latin typeface="Aptos"/>
              </a:rPr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591056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C2026"/>
                </a:solidFill>
                <a:latin typeface="Aptos"/>
              </a:rPr>
              <a:t>Will my food arrive on time?</a:t>
            </a:r>
          </a:p>
        </p:txBody>
      </p:sp>
      <p:sp>
        <p:nvSpPr>
          <p:cNvPr id="8" name="Oval 7"/>
          <p:cNvSpPr/>
          <p:nvPr/>
        </p:nvSpPr>
        <p:spPr>
          <a:xfrm>
            <a:off x="6309360" y="1554480"/>
            <a:ext cx="658368" cy="658368"/>
          </a:xfrm>
          <a:prstGeom prst="ellipse">
            <a:avLst/>
          </a:prstGeom>
          <a:solidFill>
            <a:srgbClr val="EB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63677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A7BBD"/>
                </a:solidFill>
                <a:latin typeface="Aptos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1591056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C2026"/>
                </a:solidFill>
                <a:latin typeface="Aptos"/>
              </a:rPr>
              <a:t>Is this restaurant reliable?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520439"/>
            <a:ext cx="658368" cy="658368"/>
          </a:xfrm>
          <a:prstGeom prst="ellipse">
            <a:avLst/>
          </a:prstGeom>
          <a:solidFill>
            <a:srgbClr val="EB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602735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A7BBD"/>
                </a:solidFill>
                <a:latin typeface="Aptos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557015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C2026"/>
                </a:solidFill>
                <a:latin typeface="Aptos"/>
              </a:rPr>
              <a:t>Is the food worth the price?</a:t>
            </a:r>
          </a:p>
        </p:txBody>
      </p:sp>
      <p:sp>
        <p:nvSpPr>
          <p:cNvPr id="14" name="Oval 13"/>
          <p:cNvSpPr/>
          <p:nvPr/>
        </p:nvSpPr>
        <p:spPr>
          <a:xfrm>
            <a:off x="6309360" y="3520439"/>
            <a:ext cx="658368" cy="658368"/>
          </a:xfrm>
          <a:prstGeom prst="ellipse">
            <a:avLst/>
          </a:prstGeom>
          <a:solidFill>
            <a:srgbClr val="EB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3602735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A7BBD"/>
                </a:solidFill>
                <a:latin typeface="Aptos"/>
              </a:rPr>
              <a:t>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3557015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C2026"/>
                </a:solidFill>
                <a:latin typeface="Aptos"/>
              </a:rPr>
              <a:t>Can I track my delivery?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B626C"/>
                </a:solidFill>
                <a:latin typeface="Aptos"/>
              </a:rPr>
              <a:t>FOOD DELIVERY • EMPATHY 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27080" y="647395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B626C"/>
                </a:solidFill>
                <a:latin typeface="Aptos"/>
              </a:rPr>
              <a:t>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5B48"/>
                </a:solidFill>
                <a:latin typeface="Apto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4747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2026"/>
                </a:solidFill>
                <a:latin typeface="Aptos"/>
              </a:rPr>
              <a:t>Says + Thinks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32688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26C"/>
                </a:solidFill>
                <a:latin typeface="Aptos"/>
              </a:rPr>
              <a:t>Visible communication vs. internal concerns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64008" cy="4160520"/>
          </a:xfrm>
          <a:prstGeom prst="rect">
            <a:avLst/>
          </a:prstGeom>
          <a:solidFill>
            <a:srgbClr val="EC5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73351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C2026"/>
                </a:solidFill>
                <a:latin typeface="Aptos"/>
              </a:rPr>
              <a:t>SAYS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30552"/>
            <a:ext cx="4800600" cy="341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26C"/>
                </a:solidFill>
                <a:latin typeface="Aptos"/>
              </a:rPr>
              <a:t>• I want my food quickly.</a:t>
            </a:r>
            <a:br/>
            <a:r>
              <a:t>• Is there any discount?</a:t>
            </a:r>
            <a:br/>
            <a:r>
              <a:t>• I want tasty food.</a:t>
            </a:r>
            <a:br/>
            <a:r>
              <a:t>• Where is my order?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521208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508760"/>
            <a:ext cx="64008" cy="4160520"/>
          </a:xfrm>
          <a:prstGeom prst="rect">
            <a:avLst/>
          </a:prstGeom>
          <a:solidFill>
            <a:srgbClr val="4A7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73351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C2026"/>
                </a:solidFill>
                <a:latin typeface="Aptos"/>
              </a:rPr>
              <a:t>THINKS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30552"/>
            <a:ext cx="4800600" cy="341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26C"/>
                </a:solidFill>
                <a:latin typeface="Aptos"/>
              </a:rPr>
              <a:t>• Will my food arrive on time?</a:t>
            </a:r>
            <a:br/>
            <a:r>
              <a:t>• Is this restaurant reliable?</a:t>
            </a:r>
            <a:br/>
            <a:r>
              <a:t>• Is the food worth the price?</a:t>
            </a:r>
            <a:br/>
            <a:r>
              <a:t>• Can I track my delivery?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B626C"/>
                </a:solidFill>
                <a:latin typeface="Aptos"/>
              </a:rPr>
              <a:t>FOOD DELIVERY • EMPATHY 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7395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B626C"/>
                </a:solidFill>
                <a:latin typeface="Aptos"/>
              </a:rPr>
              <a:t>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5B48"/>
                </a:solidFill>
                <a:latin typeface="Apto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4747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2026"/>
                </a:solidFill>
                <a:latin typeface="Aptos"/>
              </a:rPr>
              <a:t>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32688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26C"/>
                </a:solidFill>
                <a:latin typeface="Aptos"/>
              </a:rPr>
              <a:t>Actions the user takes while ordering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1663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64008" cy="1645920"/>
          </a:xfrm>
          <a:prstGeom prst="rect">
            <a:avLst/>
          </a:prstGeom>
          <a:solidFill>
            <a:srgbClr val="EC5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73351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2026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30552"/>
            <a:ext cx="47548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B626C"/>
                </a:solidFill>
                <a:latin typeface="Aptos"/>
              </a:rPr>
              <a:t>Searches for restaurants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51663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508760"/>
            <a:ext cx="64008" cy="1645920"/>
          </a:xfrm>
          <a:prstGeom prst="rect">
            <a:avLst/>
          </a:prstGeom>
          <a:solidFill>
            <a:srgbClr val="49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73351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2026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30552"/>
            <a:ext cx="47548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B626C"/>
                </a:solidFill>
                <a:latin typeface="Aptos"/>
              </a:rPr>
              <a:t>Compares prices and ratings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20440"/>
            <a:ext cx="51663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520440"/>
            <a:ext cx="64008" cy="1645920"/>
          </a:xfrm>
          <a:prstGeom prst="rect">
            <a:avLst/>
          </a:prstGeom>
          <a:solidFill>
            <a:srgbClr val="EC5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68503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2026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142232"/>
            <a:ext cx="47548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B626C"/>
                </a:solidFill>
                <a:latin typeface="Aptos"/>
              </a:rPr>
              <a:t>Checks offers and discounts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520440"/>
            <a:ext cx="51663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520440"/>
            <a:ext cx="64008" cy="1645920"/>
          </a:xfrm>
          <a:prstGeom prst="rect">
            <a:avLst/>
          </a:prstGeom>
          <a:solidFill>
            <a:srgbClr val="49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68503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2026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142232"/>
            <a:ext cx="47548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B626C"/>
                </a:solidFill>
                <a:latin typeface="Aptos"/>
              </a:rPr>
              <a:t>Tracks the order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B626C"/>
                </a:solidFill>
                <a:latin typeface="Aptos"/>
              </a:rPr>
              <a:t>FOOD DELIVERY • EMPATHY 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27080" y="647395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B626C"/>
                </a:solidFill>
                <a:latin typeface="Aptos"/>
              </a:rPr>
              <a:t>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5B48"/>
                </a:solidFill>
                <a:latin typeface="Apto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4747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2026"/>
                </a:solidFill>
                <a:latin typeface="Aptos"/>
              </a:rPr>
              <a:t>Feels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32688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26C"/>
                </a:solidFill>
                <a:latin typeface="Aptos"/>
              </a:rPr>
              <a:t>Emotions during the ordering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64008" cy="3474720"/>
          </a:xfrm>
          <a:prstGeom prst="rect">
            <a:avLst/>
          </a:prstGeom>
          <a:solidFill>
            <a:srgbClr val="EC5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6479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2026"/>
                </a:solidFill>
                <a:latin typeface="Aptos"/>
              </a:rPr>
              <a:t>EXCITED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21992"/>
            <a:ext cx="2103120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B626C"/>
                </a:solidFill>
                <a:latin typeface="Aptos"/>
              </a:rPr>
              <a:t>when ordering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60020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39" y="1600200"/>
            <a:ext cx="64008" cy="3474720"/>
          </a:xfrm>
          <a:prstGeom prst="rect">
            <a:avLst/>
          </a:prstGeom>
          <a:solidFill>
            <a:srgbClr val="49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176479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2026"/>
                </a:solidFill>
                <a:latin typeface="Aptos"/>
              </a:rPr>
              <a:t>HAPPY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221992"/>
            <a:ext cx="2103120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B626C"/>
                </a:solidFill>
                <a:latin typeface="Aptos"/>
              </a:rPr>
              <a:t>when food arrives quickly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160020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600200"/>
            <a:ext cx="64008" cy="3474720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59" y="176479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2026"/>
                </a:solidFill>
                <a:latin typeface="Aptos"/>
              </a:rPr>
              <a:t>FRUSTRATED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221992"/>
            <a:ext cx="2103120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B626C"/>
                </a:solidFill>
                <a:latin typeface="Aptos"/>
              </a:rPr>
              <a:t>by delays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60020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1600200"/>
            <a:ext cx="64008" cy="3474720"/>
          </a:xfrm>
          <a:prstGeom prst="rect">
            <a:avLst/>
          </a:prstGeom>
          <a:solidFill>
            <a:srgbClr val="4A7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176479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2026"/>
                </a:solidFill>
                <a:latin typeface="Aptos"/>
              </a:rPr>
              <a:t>WORRIED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221992"/>
            <a:ext cx="2103120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B626C"/>
                </a:solidFill>
                <a:latin typeface="Aptos"/>
              </a:rPr>
              <a:t>when the order is late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B626C"/>
                </a:solidFill>
                <a:latin typeface="Aptos"/>
              </a:rPr>
              <a:t>FOOD DELIVERY • EMPATHY 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27080" y="647395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B626C"/>
                </a:solidFill>
                <a:latin typeface="Aptos"/>
              </a:rPr>
              <a:t>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5B48"/>
                </a:solidFill>
                <a:latin typeface="Aptos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4747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2026"/>
                </a:solidFill>
                <a:latin typeface="Aptos"/>
              </a:rPr>
              <a:t>User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32688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26C"/>
                </a:solidFill>
                <a:latin typeface="Aptos"/>
              </a:rPr>
              <a:t>What makes the experience useful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64008" cy="1600200"/>
          </a:xfrm>
          <a:prstGeom prst="rect">
            <a:avLst/>
          </a:prstGeom>
          <a:solidFill>
            <a:srgbClr val="49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73351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2026"/>
                </a:solidFill>
                <a:latin typeface="Aptos"/>
              </a:rPr>
              <a:t>NEED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30552"/>
            <a:ext cx="30175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B626C"/>
                </a:solidFill>
                <a:latin typeface="Aptos"/>
              </a:rPr>
              <a:t>Easy and quick ordering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5087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508760"/>
            <a:ext cx="64008" cy="1600200"/>
          </a:xfrm>
          <a:prstGeom prst="rect">
            <a:avLst/>
          </a:prstGeom>
          <a:solidFill>
            <a:srgbClr val="49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673351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2026"/>
                </a:solidFill>
                <a:latin typeface="Aptos"/>
              </a:rPr>
              <a:t>NEED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130552"/>
            <a:ext cx="30175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B626C"/>
                </a:solidFill>
                <a:latin typeface="Aptos"/>
              </a:rPr>
              <a:t>Affordable prices and offers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5087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1508760"/>
            <a:ext cx="64008" cy="1600200"/>
          </a:xfrm>
          <a:prstGeom prst="rect">
            <a:avLst/>
          </a:prstGeom>
          <a:solidFill>
            <a:srgbClr val="49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673351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2026"/>
                </a:solidFill>
                <a:latin typeface="Aptos"/>
              </a:rPr>
              <a:t>NEED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130552"/>
            <a:ext cx="30175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B626C"/>
                </a:solidFill>
                <a:latin typeface="Aptos"/>
              </a:rPr>
              <a:t>Accurate delivery time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7472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474720"/>
            <a:ext cx="64008" cy="1600200"/>
          </a:xfrm>
          <a:prstGeom prst="rect">
            <a:avLst/>
          </a:prstGeom>
          <a:solidFill>
            <a:srgbClr val="49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63931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2026"/>
                </a:solidFill>
                <a:latin typeface="Aptos"/>
              </a:rPr>
              <a:t>NEED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096511"/>
            <a:ext cx="30175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B626C"/>
                </a:solidFill>
                <a:latin typeface="Aptos"/>
              </a:rPr>
              <a:t>Easy order tracking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347472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26280" y="3474720"/>
            <a:ext cx="64008" cy="1600200"/>
          </a:xfrm>
          <a:prstGeom prst="rect">
            <a:avLst/>
          </a:prstGeom>
          <a:solidFill>
            <a:srgbClr val="49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363931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2026"/>
                </a:solidFill>
                <a:latin typeface="Aptos"/>
              </a:rPr>
              <a:t>NEED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096511"/>
            <a:ext cx="30175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B626C"/>
                </a:solidFill>
                <a:latin typeface="Aptos"/>
              </a:rPr>
              <a:t>Good-quality food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347472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21040" y="3474720"/>
            <a:ext cx="64008" cy="1600200"/>
          </a:xfrm>
          <a:prstGeom prst="rect">
            <a:avLst/>
          </a:prstGeom>
          <a:solidFill>
            <a:srgbClr val="49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363931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2026"/>
                </a:solidFill>
                <a:latin typeface="Aptos"/>
              </a:rPr>
              <a:t>NEED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4096511"/>
            <a:ext cx="30175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B626C"/>
                </a:solidFill>
                <a:latin typeface="Aptos"/>
              </a:rPr>
              <a:t>Simple payment options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B626C"/>
                </a:solidFill>
                <a:latin typeface="Aptos"/>
              </a:rPr>
              <a:t>FOOD DELIVERY • EMPATHY MAP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27080" y="647395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B626C"/>
                </a:solidFill>
                <a:latin typeface="Aptos"/>
              </a:rPr>
              <a:t>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5B48"/>
                </a:solidFill>
                <a:latin typeface="Aptos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4747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2026"/>
                </a:solidFill>
                <a:latin typeface="Aptos"/>
              </a:rPr>
              <a:t>Frustrations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32688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26C"/>
                </a:solidFill>
                <a:latin typeface="Aptos"/>
              </a:rPr>
              <a:t>Problems that can make the experience difficult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64008" cy="1600200"/>
          </a:xfrm>
          <a:prstGeom prst="rect">
            <a:avLst/>
          </a:prstGeom>
          <a:solidFill>
            <a:srgbClr val="EC5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73351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2026"/>
                </a:solidFill>
                <a:latin typeface="Aptos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30552"/>
            <a:ext cx="30175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26C"/>
                </a:solidFill>
                <a:latin typeface="Aptos"/>
              </a:rPr>
              <a:t>Late delivery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5087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508760"/>
            <a:ext cx="64008" cy="1600200"/>
          </a:xfrm>
          <a:prstGeom prst="rect">
            <a:avLst/>
          </a:prstGeom>
          <a:solidFill>
            <a:srgbClr val="EC5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673351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2026"/>
                </a:solidFill>
                <a:latin typeface="Aptos"/>
              </a:rPr>
              <a:t>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130552"/>
            <a:ext cx="30175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26C"/>
                </a:solidFill>
                <a:latin typeface="Aptos"/>
              </a:rPr>
              <a:t>High delivery charges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5087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1508760"/>
            <a:ext cx="64008" cy="1600200"/>
          </a:xfrm>
          <a:prstGeom prst="rect">
            <a:avLst/>
          </a:prstGeom>
          <a:solidFill>
            <a:srgbClr val="EC5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673351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2026"/>
                </a:solidFill>
                <a:latin typeface="Aptos"/>
              </a:rPr>
              <a:t>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130552"/>
            <a:ext cx="30175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26C"/>
                </a:solidFill>
                <a:latin typeface="Aptos"/>
              </a:rPr>
              <a:t>Wrong or missing items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7472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474720"/>
            <a:ext cx="64008" cy="1600200"/>
          </a:xfrm>
          <a:prstGeom prst="rect">
            <a:avLst/>
          </a:prstGeom>
          <a:solidFill>
            <a:srgbClr val="EC5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63931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2026"/>
                </a:solidFill>
                <a:latin typeface="Aptos"/>
              </a:rPr>
              <a:t>PROBLEM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096511"/>
            <a:ext cx="30175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26C"/>
                </a:solidFill>
                <a:latin typeface="Aptos"/>
              </a:rPr>
              <a:t>Poor food quality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347472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26280" y="3474720"/>
            <a:ext cx="64008" cy="1600200"/>
          </a:xfrm>
          <a:prstGeom prst="rect">
            <a:avLst/>
          </a:prstGeom>
          <a:solidFill>
            <a:srgbClr val="EC5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363931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2026"/>
                </a:solidFill>
                <a:latin typeface="Aptos"/>
              </a:rPr>
              <a:t>PROBLEM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096511"/>
            <a:ext cx="30175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26C"/>
                </a:solidFill>
                <a:latin typeface="Aptos"/>
              </a:rPr>
              <a:t>App errors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347472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21040" y="3474720"/>
            <a:ext cx="64008" cy="1600200"/>
          </a:xfrm>
          <a:prstGeom prst="rect">
            <a:avLst/>
          </a:prstGeom>
          <a:solidFill>
            <a:srgbClr val="EC5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363931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2026"/>
                </a:solidFill>
                <a:latin typeface="Aptos"/>
              </a:rPr>
              <a:t>PROBLEM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4096511"/>
            <a:ext cx="30175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26C"/>
                </a:solidFill>
                <a:latin typeface="Aptos"/>
              </a:rPr>
              <a:t>Limited offers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B626C"/>
                </a:solidFill>
                <a:latin typeface="Aptos"/>
              </a:rPr>
              <a:t>FOOD DELIVERY • EMPATHY MAP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27080" y="647395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B626C"/>
                </a:solidFill>
                <a:latin typeface="Aptos"/>
              </a:rPr>
              <a:t>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5B48"/>
                </a:solidFill>
                <a:latin typeface="Aptos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4747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2026"/>
                </a:solidFill>
                <a:latin typeface="Aptos"/>
              </a:rPr>
              <a:t>Needs vs. Frustrations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32688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26C"/>
                </a:solidFill>
                <a:latin typeface="Aptos"/>
              </a:rPr>
              <a:t>Two sides of the same user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99E75"/>
                </a:solidFill>
                <a:latin typeface="Aptos"/>
              </a:rPr>
              <a:t>Easy &amp; quick ordering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40680" y="1325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B626C"/>
                </a:solidFill>
                <a:latin typeface="Aptos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132588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C5B48"/>
                </a:solidFill>
                <a:latin typeface="Aptos"/>
              </a:rPr>
              <a:t>Late delivery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99E75"/>
                </a:solidFill>
                <a:latin typeface="Aptos"/>
              </a:rPr>
              <a:t>Affordable prices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068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B626C"/>
                </a:solidFill>
                <a:latin typeface="Aptos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228600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C5B48"/>
                </a:solidFill>
                <a:latin typeface="Aptos"/>
              </a:rPr>
              <a:t>High delivery charges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99E75"/>
                </a:solidFill>
                <a:latin typeface="Aptos"/>
              </a:rPr>
              <a:t>Accurate delivery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3246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B626C"/>
                </a:solidFill>
                <a:latin typeface="Aptos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324612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C5B48"/>
                </a:solidFill>
                <a:latin typeface="Aptos"/>
              </a:rPr>
              <a:t>Wrong or missing items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0624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99E75"/>
                </a:solidFill>
                <a:latin typeface="Aptos"/>
              </a:rPr>
              <a:t>Good-quality food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4206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B626C"/>
                </a:solidFill>
                <a:latin typeface="Apto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420624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C5B48"/>
                </a:solidFill>
                <a:latin typeface="Aptos"/>
              </a:rPr>
              <a:t>Poor food 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16636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99E75"/>
                </a:solidFill>
                <a:latin typeface="Aptos"/>
              </a:rPr>
              <a:t>Simple payment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166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B626C"/>
                </a:solidFill>
                <a:latin typeface="Apto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516636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C5B48"/>
                </a:solidFill>
                <a:latin typeface="Aptos"/>
              </a:rPr>
              <a:t>App errors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B626C"/>
                </a:solidFill>
                <a:latin typeface="Aptos"/>
              </a:rPr>
              <a:t>FOOD DELIVERY • EMPATHY 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27080" y="647395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B626C"/>
                </a:solidFill>
                <a:latin typeface="Aptos"/>
              </a:rPr>
              <a:t>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5B48"/>
                </a:solidFill>
                <a:latin typeface="Aptos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4747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2026"/>
                </a:solidFill>
                <a:latin typeface="Aptos"/>
              </a:rPr>
              <a:t>User Expectations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32688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26C"/>
                </a:solidFill>
                <a:latin typeface="Aptos"/>
              </a:rPr>
              <a:t>What users expect from a good food delivery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64008" cy="1600200"/>
          </a:xfrm>
          <a:prstGeom prst="rect">
            <a:avLst/>
          </a:prstGeom>
          <a:solidFill>
            <a:srgbClr val="EC5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73351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2026"/>
                </a:solidFill>
                <a:latin typeface="Aptos"/>
              </a:rPr>
              <a:t>FAST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30552"/>
            <a:ext cx="30175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B626C"/>
                </a:solidFill>
                <a:latin typeface="Aptos"/>
              </a:rPr>
              <a:t>Fast and reliable delivery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5087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508760"/>
            <a:ext cx="64008" cy="1600200"/>
          </a:xfrm>
          <a:prstGeom prst="rect">
            <a:avLst/>
          </a:prstGeom>
          <a:solidFill>
            <a:srgbClr val="49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673351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2026"/>
                </a:solidFill>
                <a:latin typeface="Aptos"/>
              </a:rPr>
              <a:t>FRESH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130552"/>
            <a:ext cx="30175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B626C"/>
                </a:solidFill>
                <a:latin typeface="Aptos"/>
              </a:rPr>
              <a:t>Fresh and tasty food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5087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1508760"/>
            <a:ext cx="64008" cy="1600200"/>
          </a:xfrm>
          <a:prstGeom prst="rect">
            <a:avLst/>
          </a:prstGeom>
          <a:solidFill>
            <a:srgbClr val="4A7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673351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2026"/>
                </a:solidFill>
                <a:latin typeface="Aptos"/>
              </a:rPr>
              <a:t>EASY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130552"/>
            <a:ext cx="30175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B626C"/>
                </a:solidFill>
                <a:latin typeface="Aptos"/>
              </a:rPr>
              <a:t>Easy-to-use app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7472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474720"/>
            <a:ext cx="64008" cy="1600200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63931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2026"/>
                </a:solidFill>
                <a:latin typeface="Aptos"/>
              </a:rPr>
              <a:t>TRACK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096511"/>
            <a:ext cx="30175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B626C"/>
                </a:solidFill>
                <a:latin typeface="Aptos"/>
              </a:rPr>
              <a:t>Accurate order tracking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347472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26280" y="3474720"/>
            <a:ext cx="64008" cy="1600200"/>
          </a:xfrm>
          <a:prstGeom prst="rect">
            <a:avLst/>
          </a:prstGeom>
          <a:solidFill>
            <a:srgbClr val="EC5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363931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2026"/>
                </a:solidFill>
                <a:latin typeface="Aptos"/>
              </a:rPr>
              <a:t>HELP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096511"/>
            <a:ext cx="30175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B626C"/>
                </a:solidFill>
                <a:latin typeface="Aptos"/>
              </a:rPr>
              <a:t>Good customer support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347472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21040" y="3474720"/>
            <a:ext cx="64008" cy="1600200"/>
          </a:xfrm>
          <a:prstGeom prst="rect">
            <a:avLst/>
          </a:prstGeom>
          <a:solidFill>
            <a:srgbClr val="49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363931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2026"/>
                </a:solidFill>
                <a:latin typeface="Aptos"/>
              </a:rPr>
              <a:t>SAFE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4096511"/>
            <a:ext cx="30175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B626C"/>
                </a:solidFill>
                <a:latin typeface="Aptos"/>
              </a:rPr>
              <a:t>Safe and convenient payment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B626C"/>
                </a:solidFill>
                <a:latin typeface="Aptos"/>
              </a:rPr>
              <a:t>FOOD DELIVERY • EMPATHY MAP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27080" y="647395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B626C"/>
                </a:solidFill>
                <a:latin typeface="Aptos"/>
              </a:rPr>
              <a:t>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0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5B48"/>
                </a:solidFill>
                <a:latin typeface="Aptos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4747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Good Food Delivery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32688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EC3CA"/>
                </a:solidFill>
                <a:latin typeface="Aptos"/>
              </a:rPr>
              <a:t>The user's expected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B84D"/>
                </a:solidFill>
                <a:latin typeface="Aptos"/>
              </a:rPr>
              <a:t>SIMPLE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6280" y="16459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C5B48"/>
                </a:solidFill>
                <a:latin typeface="Aptos"/>
              </a:rPr>
              <a:t>FAST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16459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499E75"/>
                </a:solidFill>
                <a:latin typeface="Aptos"/>
              </a:rPr>
              <a:t>RELIABLE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926080"/>
            <a:ext cx="9875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"/>
              </a:rPr>
              <a:t>A food delivery app should be simple,</a:t>
            </a:r>
            <a:br/>
            <a:r>
              <a:t>fast, reliable and user-friendly.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5074920"/>
            <a:ext cx="3886200" cy="384048"/>
          </a:xfrm>
          <a:prstGeom prst="roundRect">
            <a:avLst/>
          </a:prstGeom>
          <a:solidFill>
            <a:srgbClr val="343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33672" y="5129783"/>
            <a:ext cx="3739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USER-CENTRED 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B626C"/>
                </a:solidFill>
                <a:latin typeface="Aptos"/>
              </a:rPr>
              <a:t>FOOD DELIVERY • EMPATHY 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7080" y="647395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B626C"/>
                </a:solidFill>
                <a:latin typeface="Aptos"/>
              </a:rPr>
              <a:t>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5B48"/>
                </a:solidFill>
                <a:latin typeface="Aptos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4747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2026"/>
                </a:solidFill>
                <a:latin typeface="Aptos"/>
              </a:rPr>
              <a:t>Key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32688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26C"/>
                </a:solidFill>
                <a:latin typeface="Aptos"/>
              </a:rPr>
              <a:t>Empathy mapping turns user observations into clear UX priorities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64008" cy="3566160"/>
          </a:xfrm>
          <a:prstGeom prst="rect">
            <a:avLst/>
          </a:prstGeom>
          <a:solidFill>
            <a:srgbClr val="4A7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73351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2026"/>
                </a:solidFill>
                <a:latin typeface="Aptos"/>
              </a:rPr>
              <a:t>UNDERSTAND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30552"/>
            <a:ext cx="3017520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B626C"/>
                </a:solidFill>
                <a:latin typeface="Aptos"/>
              </a:rPr>
              <a:t>Know who the user is and what they need.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508760"/>
            <a:ext cx="64008" cy="3566160"/>
          </a:xfrm>
          <a:prstGeom prst="rect">
            <a:avLst/>
          </a:prstGeom>
          <a:solidFill>
            <a:srgbClr val="EC5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673351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2026"/>
                </a:solidFill>
                <a:latin typeface="Aptos"/>
              </a:rPr>
              <a:t>IDENTIFY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30552"/>
            <a:ext cx="3017520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B626C"/>
                </a:solidFill>
                <a:latin typeface="Aptos"/>
              </a:rPr>
              <a:t>Recognize actions, emotions and frustrations.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0876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508760"/>
            <a:ext cx="64008" cy="3566160"/>
          </a:xfrm>
          <a:prstGeom prst="rect">
            <a:avLst/>
          </a:prstGeom>
          <a:solidFill>
            <a:srgbClr val="49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673351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2026"/>
                </a:solidFill>
                <a:latin typeface="Aptos"/>
              </a:rPr>
              <a:t>IMPROVE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30552"/>
            <a:ext cx="3017520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B626C"/>
                </a:solidFill>
                <a:latin typeface="Aptos"/>
              </a:rPr>
              <a:t>Design a simple, fast and reliable experience.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548640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C2026"/>
                </a:solidFill>
                <a:latin typeface="Aptos"/>
              </a:rPr>
              <a:t>Thank You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B626C"/>
                </a:solidFill>
                <a:latin typeface="Aptos"/>
              </a:rPr>
              <a:t>FOOD DELIVERY • EMPATHY 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647395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B626C"/>
                </a:solidFill>
                <a:latin typeface="Aptos"/>
              </a:rPr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